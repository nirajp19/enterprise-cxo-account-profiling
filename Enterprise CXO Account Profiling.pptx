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GnYk77RXqTC38onYTa61xx1KK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Contacts</c:v>
                </c:pt>
              </c:strCache>
            </c:strRef>
          </c:tx>
          <c:spPr>
            <a:solidFill>
              <a:srgbClr val="4C6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7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CIO</c:v>
                  </c:pt>
                  <c:pt idx="1">
                    <c:v>CTO</c:v>
                  </c:pt>
                  <c:pt idx="2">
                    <c:v>CISO</c:v>
                  </c:pt>
                  <c:pt idx="3">
                    <c:v>CDO / Chief AI Officer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216</c:v>
                </c:pt>
                <c:pt idx="1">
                  <c:v>144</c:v>
                </c:pt>
                <c:pt idx="2">
                  <c:v>72</c:v>
                </c:pt>
                <c:pt idx="3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71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17C9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7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2,500–5,000 Employees</c:v>
                  </c:pt>
                  <c:pt idx="1">
                    <c:v>5,001–10,000 Employees</c:v>
                  </c:pt>
                  <c:pt idx="2">
                    <c:v>10,000+ Employees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</c:v>
                </c:pt>
                <c:pt idx="1">
                  <c:v>96</c:v>
                </c:pt>
                <c:pt idx="2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71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3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0"/>
            <a:ext cx="36576" cy="6858000"/>
          </a:xfrm>
          <a:prstGeom prst="rect">
            <a:avLst/>
          </a:prstGeom>
          <a:solidFill>
            <a:srgbClr val="17C9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640080" y="548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CXO ACCOUNT PROFILING  |  PROJECT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9144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Tech Conclave — Mumbai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2286000"/>
            <a:ext cx="7498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ENTERPRISE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IT INTELLIGENCE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39319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CXO-Only IT Leadership Dataset — Enterprise Accounts, Mumbai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pin_teal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45537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960120" y="452628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Mumbai &amp; MMR (Mumbai Metropolitan Region), India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uilding_teal.png" id="23" name="Google Shape;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4919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 txBox="1"/>
          <p:nvPr/>
        </p:nvSpPr>
        <p:spPr>
          <a:xfrm>
            <a:off x="960120" y="48920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Enterprise Accounts — 2,500+ Employees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userTie_teal.png" id="25" name="Google Shape;2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52852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/>
        </p:nvSpPr>
        <p:spPr>
          <a:xfrm>
            <a:off x="960120" y="525780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IT Department — CXO Level Only (CIO / CTO / CISO / CDO)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40080" y="55321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320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640080" y="605332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Enterprise Accounts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(Companies)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2468880" y="5532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480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2468880" y="60533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Verified CXO Contacts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(IT Leadership Only)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8138160" y="6400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Prepared by: [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Niraj Pawar</a:t>
            </a: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]  |  Database &amp; 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Executive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robot_navy.png" id="32" name="Google Shape;32;p1"/>
          <p:cNvPicPr preferRelativeResize="0"/>
          <p:nvPr/>
        </p:nvPicPr>
        <p:blipFill rotWithShape="1">
          <a:blip r:embed="rId6">
            <a:alphaModFix amt="45000"/>
          </a:blip>
          <a:srcRect b="0" l="0" r="0" t="0"/>
          <a:stretch/>
        </p:blipFill>
        <p:spPr>
          <a:xfrm>
            <a:off x="9418320" y="237744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About This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ilding_teal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9431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 txBox="1"/>
          <p:nvPr/>
        </p:nvSpPr>
        <p:spPr>
          <a:xfrm>
            <a:off x="777240" y="24231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777240" y="263347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AI Tech Conclave — Mumbai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38912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pin_teal.png" id="47" name="Google Shape;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19431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>
            <a:off x="4617720" y="24231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4617720" y="263347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Mumbai &amp; Mumbai Metropolitan Region (MMR), India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22960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network_teal.png" id="52" name="Google Shape;5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0" y="19431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 txBox="1"/>
          <p:nvPr/>
        </p:nvSpPr>
        <p:spPr>
          <a:xfrm>
            <a:off x="8458200" y="24231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COMPANY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8458200" y="263347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Enterprise, AI-Adopting Organizations (Multi-Sector)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teal.png" id="57" name="Google Shape;5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1540" y="35890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 txBox="1"/>
          <p:nvPr/>
        </p:nvSpPr>
        <p:spPr>
          <a:xfrm>
            <a:off x="777240" y="40690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EMPLOYEE SIZE BAND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777240" y="427939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2,500+ Employees (Enterprise Accounts Only)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617720" y="347472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Tie_teal.png" id="62" name="Google Shape;6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2020" y="35890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4617720" y="40690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SENIORITY FOCUS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4617720" y="427939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CXO Only — CIO, CTO, CISO, CDO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22960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458200" y="347472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rver_teal.png" id="67" name="Google Shape;6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0" y="35890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8458200" y="40690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FUNCTION FOCUS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458200" y="427939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IT Department Only — No Other Functions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914400" y="5376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FINAL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914400" y="560527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320 Enterprise Accounts (Companies)  →  480 Verified CXO Contacts (IT Only)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914400" y="598932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Average 1.5 verified CXO contacts per account — some accounts carry both a CIO and a CISO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DATASET HIGHLIGHTS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By the Numbers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 txBox="1"/>
          <p:nvPr/>
        </p:nvSpPr>
        <p:spPr>
          <a:xfrm>
            <a:off x="777240" y="17373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320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777240" y="235000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Total Accounts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777240" y="26243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Enterprise Companies, Mumbai/MMR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38912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4617720" y="17373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480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4617720" y="235000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Total Contacts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4617720" y="26243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Verified CXO-Level IT Profiles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22960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8458200" y="17373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1.5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8458200" y="235000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Avg. Contacts /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8458200" y="26243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Titles per Enterprise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777240" y="338328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77240" y="39959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CXO Titles Covered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777240" y="427024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CIO, CTO, CISO, CDO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4617720" y="338328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617720" y="39959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Industry Verticals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617720" y="427024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BFSI, IT Services, Telecom…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22960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8458200" y="338328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458200" y="39959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IT Sub-Functions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458200" y="427024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Cloud, Security, Data/AI, Apps, Transformation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SENIORITY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CXO Title Breakdown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contact in this dataset is a CXO — no VPs, Directors, or Heads. Split below by exact title.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4"/>
          <p:cNvGraphicFramePr/>
          <p:nvPr/>
        </p:nvGraphicFramePr>
        <p:xfrm>
          <a:off x="548640" y="1783080"/>
          <a:ext cx="6675120" cy="4251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8" name="Google Shape;118;p4"/>
          <p:cNvSpPr/>
          <p:nvPr/>
        </p:nvSpPr>
        <p:spPr>
          <a:xfrm>
            <a:off x="7498080" y="1691640"/>
            <a:ext cx="4114800" cy="8961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7680960" y="1837944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45.0%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915400" y="182880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CIO — 216 contacts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8915400" y="21488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Chief Information Officer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498080" y="2724912"/>
            <a:ext cx="4114800" cy="8961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7680960" y="2871216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30.0%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8915400" y="2862072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CTO — 144 contacts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915400" y="318211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Chief Technology Officer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498080" y="3758184"/>
            <a:ext cx="4114800" cy="8961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7680960" y="3904488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15.0%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915400" y="3895344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CISO — 72 contacts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8915400" y="421538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Chief Information Security Officer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498080" y="4791456"/>
            <a:ext cx="4114800" cy="896112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7680960" y="4937760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10.0%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915400" y="492861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CDO — 48 contacts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8915400" y="5248656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Chief Digital / AI Officer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498080" y="5870448"/>
            <a:ext cx="4114800" cy="548640"/>
          </a:xfrm>
          <a:prstGeom prst="rect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7680960" y="5989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 →  480 CXO Contacts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ACCOUNT SIZE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Enterprise-Size Tiering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 320 accounts meet the enterprise threshold (2,500+ employees) — tiered further by scale for account prioritization.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5"/>
          <p:cNvGraphicFramePr/>
          <p:nvPr/>
        </p:nvGraphicFramePr>
        <p:xfrm>
          <a:off x="548640" y="1874520"/>
          <a:ext cx="6766560" cy="4206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7" name="Google Shape;147;p5"/>
          <p:cNvSpPr/>
          <p:nvPr/>
        </p:nvSpPr>
        <p:spPr>
          <a:xfrm>
            <a:off x="7635240" y="1874520"/>
            <a:ext cx="3977640" cy="1234440"/>
          </a:xfrm>
          <a:prstGeom prst="roundRect">
            <a:avLst>
              <a:gd fmla="val 518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818120" y="2057400"/>
            <a:ext cx="457200" cy="45720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ilding_teal.png"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7848" y="2167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8412480" y="201168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Tier 1 — Large Enterprise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8412480" y="228600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2,500–5,000 employees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7818120" y="262432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160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9006840" y="2697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50.0%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635240" y="3291840"/>
            <a:ext cx="3977640" cy="1234440"/>
          </a:xfrm>
          <a:prstGeom prst="roundRect">
            <a:avLst>
              <a:gd fmla="val 518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7818120" y="3474720"/>
            <a:ext cx="457200" cy="45720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ity_teal.png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7848" y="35844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8412480" y="342900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Tier 2 — Major Enterprise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412480" y="370332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5,001–10,000 employees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818120" y="404164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96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9006840" y="41148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30.0%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635240" y="4709160"/>
            <a:ext cx="3977640" cy="1234440"/>
          </a:xfrm>
          <a:prstGeom prst="roundRect">
            <a:avLst>
              <a:gd fmla="val 5185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818120" y="4892040"/>
            <a:ext cx="457200" cy="45720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network_teal.png" id="163" name="Google Shape;16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7848" y="5001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 txBox="1"/>
          <p:nvPr/>
        </p:nvSpPr>
        <p:spPr>
          <a:xfrm>
            <a:off x="8412480" y="48463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Tier 3 — Global Enterprise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8412480" y="512064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10,000+ employees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818120" y="5458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C6FFF"/>
                </a:solidFill>
                <a:latin typeface="Cambria"/>
                <a:ea typeface="Cambria"/>
                <a:cs typeface="Cambria"/>
                <a:sym typeface="Cambria"/>
              </a:rPr>
              <a:t>64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9006840" y="55321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20.0%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548640" y="626364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320 total accounts (companies) — all enterprise-scale, tiered by employee headcount.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INDUSTRIES COVERED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48640" y="713232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Enterprise Verticals — Mumbai &amp; MMR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Mumbai is India's commercial capital — home to enterprise HQs across finance, media, and technology. Targeting was scale &amp; role-driven, capturing only CXO-level IT decision-makers.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university_teal.png"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0391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 txBox="1"/>
          <p:nvPr/>
        </p:nvSpPr>
        <p:spPr>
          <a:xfrm>
            <a:off x="1005840" y="196596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BFSI &amp; FINTECH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1005840" y="2258568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Banks · NBFCs · Insurance · Fintech &amp; Payments Platforms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server_teal.png"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20391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6675120" y="196596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IT SERVICES &amp; GCCs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675120" y="2258568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IT Services Majors · Global Capability Centers · SaaS Enterprises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mobile_teal.png" id="185" name="Google Shape;18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2552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1005840" y="318211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TELECOM &amp; DIGITAL INFRA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1005840" y="347472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Telecom Operators · Data Center &amp; Cloud Infrastructure Providers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art_teal.png" id="188" name="Google Shape;18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32552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 txBox="1"/>
          <p:nvPr/>
        </p:nvSpPr>
        <p:spPr>
          <a:xfrm>
            <a:off x="6675120" y="318211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E-COMMERCE &amp; CONSUMER TECH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6675120" y="347472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E-commerce Platforms · Consumer Internet · D2C Enterprises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hospital_teal.png" id="191" name="Google Shape;19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4714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1005840" y="4398264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HEALTHCARE &amp; PHARMA ENTERPRISES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005840" y="4690872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Hospital Chains · Pharma Majors · Health-Tech Platforms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film_teal.png" id="194" name="Google Shape;19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920" y="44714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6675120" y="4398264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MEDIA, ENTERTAINMENT &amp; OTT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6675120" y="4690872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Broadcast &amp; Media Houses · OTT Platforms · Entertainment Conglomerates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6"/>
          <p:cNvCxnSpPr/>
          <p:nvPr/>
        </p:nvCxnSpPr>
        <p:spPr>
          <a:xfrm>
            <a:off x="548640" y="544982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E7E9E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cons/industry_teal.png" id="198" name="Google Shape;198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8640" y="55961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/>
        </p:nvSpPr>
        <p:spPr>
          <a:xfrm>
            <a:off x="1005840" y="55229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ENTERPRISE MANUFACTURING &amp; CONGLOMERATES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1005840" y="581558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Large Industrial Conglomerates · Enterprise-Scale Manufacturing Groups · Diversified Holdings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IT SUB-FUNCTION SEGMENTATION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Area of Ownership Within 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contact sits in the IT department — segmented below by their primary area of technology ownership.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548640" y="17830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Infrastructure &amp;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548640" y="20574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CIOs &amp; CTOs owning cloud, data center &amp; core infra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029200" y="1837944"/>
            <a:ext cx="5486400" cy="310896"/>
          </a:xfrm>
          <a:prstGeom prst="rect">
            <a:avLst/>
          </a:prstGeom>
          <a:solidFill>
            <a:srgbClr val="E7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029200" y="1837944"/>
            <a:ext cx="5486400" cy="310896"/>
          </a:xfrm>
          <a:prstGeom prst="rect">
            <a:avLst/>
          </a:prstGeom>
          <a:solidFill>
            <a:srgbClr val="17C9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0625328" y="17647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168  ·  35.0%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548640" y="26974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Cybersecurity &amp;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548640" y="29718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CISOs owning security posture, risk &amp; compliance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029200" y="2752344"/>
            <a:ext cx="5486400" cy="310896"/>
          </a:xfrm>
          <a:prstGeom prst="rect">
            <a:avLst/>
          </a:prstGeom>
          <a:solidFill>
            <a:srgbClr val="E7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5029200" y="2752344"/>
            <a:ext cx="3918857" cy="310896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10625328" y="26791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120  ·  25.0%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548640" y="36118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Data, Analytics &amp; AI/ML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548640" y="38862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CDOs &amp; CTOs owning data platforms and AI/ML adoption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029200" y="3666744"/>
            <a:ext cx="5486400" cy="310896"/>
          </a:xfrm>
          <a:prstGeom prst="rect">
            <a:avLst/>
          </a:prstGeom>
          <a:solidFill>
            <a:srgbClr val="E7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029200" y="3666744"/>
            <a:ext cx="3135086" cy="310896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10625328" y="35935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96  ·  20.0%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548640" y="45262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Enterprise Applications &amp; ERP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548640" y="48006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CIOs owning ERP, CRM &amp; core business systems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029200" y="4581144"/>
            <a:ext cx="5486400" cy="310896"/>
          </a:xfrm>
          <a:prstGeom prst="rect">
            <a:avLst/>
          </a:prstGeom>
          <a:solidFill>
            <a:srgbClr val="E7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029200" y="4581144"/>
            <a:ext cx="1959429" cy="310896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10625328" y="45079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60  ·  12.5%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548640" y="54406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Digital Transformation &amp; Innovation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548640" y="57150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CDOs owning transformation &amp; innovation charters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029200" y="5495544"/>
            <a:ext cx="5486400" cy="310896"/>
          </a:xfrm>
          <a:prstGeom prst="rect">
            <a:avLst/>
          </a:prstGeom>
          <a:solidFill>
            <a:srgbClr val="E7E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5029200" y="5495544"/>
            <a:ext cx="1175657" cy="310896"/>
          </a:xfrm>
          <a:prstGeom prst="rect">
            <a:avLst/>
          </a:prstGeom>
          <a:solidFill>
            <a:srgbClr val="4C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10625328" y="54223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36  ·  7.5%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Data Profiling &amp; Validation Process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 txBox="1"/>
          <p:nvPr/>
        </p:nvSpPr>
        <p:spPr>
          <a:xfrm>
            <a:off x="822960" y="18745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7E9E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22960" y="1874520"/>
            <a:ext cx="54864" cy="54864"/>
          </a:xfrm>
          <a:prstGeom prst="ellipse">
            <a:avLst/>
          </a:prstGeom>
          <a:solidFill>
            <a:srgbClr val="17C9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 txBox="1"/>
          <p:nvPr/>
        </p:nvSpPr>
        <p:spPr>
          <a:xfrm>
            <a:off x="822960" y="256032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Brief &amp; Criteria Definition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822960" y="297180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Received client brief for an AI technology event — targeting IT-department CXOs only (CIO, CTO, CISO, CDO), at enterprise accounts of 2,500+ employees, across Mumbai &amp; MMR.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6492240" y="18745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7E9E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492240" y="1874520"/>
            <a:ext cx="54864" cy="54864"/>
          </a:xfrm>
          <a:prstGeom prst="ellipse">
            <a:avLst/>
          </a:prstGeom>
          <a:solidFill>
            <a:srgbClr val="17C9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6492240" y="256032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Data Extraction via LinkedIn Sales Navigator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6492240" y="297180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Applied strict filters — CXO-level IT titles only, enterprise employee-size threshold, and geography (Mumbai/MMR). Supplemented using Lusha, Apollo, and ZoomInfo.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822960" y="429768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7E9E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822960" y="4297680"/>
            <a:ext cx="54864" cy="54864"/>
          </a:xfrm>
          <a:prstGeom prst="ellipse">
            <a:avLst/>
          </a:prstGeom>
          <a:solidFill>
            <a:srgbClr val="17C9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822960" y="498348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Data Cleaning &amp; Standardization in Excel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822960" y="539496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Cleaned, structured, and standardized all 480 contact records — spanning 320 enterprise accounts — in Microsoft Excel. Removed duplicates and non-CXO titles that slipped through filters.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217920" y="411480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 txBox="1"/>
          <p:nvPr/>
        </p:nvSpPr>
        <p:spPr>
          <a:xfrm>
            <a:off x="6492240" y="429768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7E9E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492240" y="4297680"/>
            <a:ext cx="54864" cy="54864"/>
          </a:xfrm>
          <a:prstGeom prst="ellipse">
            <a:avLst/>
          </a:prstGeom>
          <a:solidFill>
            <a:srgbClr val="17C9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6492240" y="498348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Validation &amp; Enrichment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6492240" y="539496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Cross-validated contact details and title accuracy using Seamless.AI and ContactOut — confirming true CXO status (not VP-level 'Head of IT' roles) before final delivery.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TOOLS &amp; TECHNOLOGY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Stack Used for This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48640" y="1691640"/>
            <a:ext cx="5349240" cy="2011680"/>
          </a:xfrm>
          <a:prstGeom prst="roundRect">
            <a:avLst>
              <a:gd fmla="val 3636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arch_teal.png" id="276" name="Google Shape;2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2039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 txBox="1"/>
          <p:nvPr/>
        </p:nvSpPr>
        <p:spPr>
          <a:xfrm>
            <a:off x="1508760" y="2011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DATA DISCOVERY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LinkedIn Sales Navigator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ZoomInfo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Apollo.io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Lusha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217920" y="1691640"/>
            <a:ext cx="5349240" cy="2011680"/>
          </a:xfrm>
          <a:prstGeom prst="roundRect">
            <a:avLst>
              <a:gd fmla="val 3636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_teal.png" id="281" name="Google Shape;2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1112" y="2039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 txBox="1"/>
          <p:nvPr/>
        </p:nvSpPr>
        <p:spPr>
          <a:xfrm>
            <a:off x="7178040" y="2011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VALIDATION &amp; ENRICHMENT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6492240" y="2606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Seamless.AI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ContactOut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Apollo.io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48640" y="3977640"/>
            <a:ext cx="5349240" cy="2011680"/>
          </a:xfrm>
          <a:prstGeom prst="roundRect">
            <a:avLst>
              <a:gd fmla="val 3636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xcel_teal.png" id="286" name="Google Shape;28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832" y="4325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 txBox="1"/>
          <p:nvPr/>
        </p:nvSpPr>
        <p:spPr>
          <a:xfrm>
            <a:off x="1508760" y="4297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822960" y="4892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Microsoft Excel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Advanced Filters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Title Standardization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217920" y="3977640"/>
            <a:ext cx="5349240" cy="2011680"/>
          </a:xfrm>
          <a:prstGeom prst="roundRect">
            <a:avLst>
              <a:gd fmla="val 3636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141A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teal.png" id="291" name="Google Shape;29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1112" y="4325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 txBox="1"/>
          <p:nvPr/>
        </p:nvSpPr>
        <p:spPr>
          <a:xfrm>
            <a:off x="7178040" y="4297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CRM &amp;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6492240" y="4892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CRM Upload (Client Instance)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Structured Templates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Circulation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PROJECT OUTCOMES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71B2E"/>
                </a:solidFill>
                <a:latin typeface="Cambria"/>
                <a:ea typeface="Cambria"/>
                <a:cs typeface="Cambria"/>
                <a:sym typeface="Cambria"/>
              </a:rPr>
              <a:t>Value Delivered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ullseye_teal.png" id="303" name="Google Shape;3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373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 txBox="1"/>
          <p:nvPr/>
        </p:nvSpPr>
        <p:spPr>
          <a:xfrm>
            <a:off x="1024128" y="169164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True CXO-Only Precision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1024128" y="2002536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Dataset restricted to verified CIO/CTO/CISO/CDO titles only — filtering out VP-level 'Head of IT' roles that often masquerade as CXO on LinkedIn.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teal.png" id="306" name="Google Shape;3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7373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"/>
          <p:cNvSpPr txBox="1"/>
          <p:nvPr/>
        </p:nvSpPr>
        <p:spPr>
          <a:xfrm>
            <a:off x="6693408" y="169164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Enterprise-Grade Accuracy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6693408" y="2002536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account cross-checked for the 2,500+ employee threshold, and every contact validated for true C-suite standing before delivery.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ity_teal.png" id="309" name="Google Shape;30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337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 txBox="1"/>
          <p:nvPr/>
        </p:nvSpPr>
        <p:spPr>
          <a:xfrm>
            <a:off x="1024128" y="329184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Mumbai &amp; MMR Focus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1024128" y="3602736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Hyper-targeted to India's commercial capital — where the highest concentration of enterprise HQs and technology decision power sits.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layers_teal.png" id="312" name="Google Shape;31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3337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0"/>
          <p:cNvSpPr txBox="1"/>
          <p:nvPr/>
        </p:nvSpPr>
        <p:spPr>
          <a:xfrm>
            <a:off x="6693408" y="329184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Structured &amp; CRM-Ready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6693408" y="3602736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 480 contact records across 320 enterprise accounts delivered in a standardized, tiered format — ready for direct CRM upload.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0"/>
          <p:cNvCxnSpPr/>
          <p:nvPr/>
        </p:nvCxnSpPr>
        <p:spPr>
          <a:xfrm>
            <a:off x="548640" y="475488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E7E9E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cons/clock_teal.png" id="316" name="Google Shape;31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9194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 txBox="1"/>
          <p:nvPr/>
        </p:nvSpPr>
        <p:spPr>
          <a:xfrm>
            <a:off x="1024128" y="486460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B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71B2E"/>
                </a:solidFill>
                <a:latin typeface="Calibri"/>
                <a:ea typeface="Calibri"/>
                <a:cs typeface="Calibri"/>
                <a:sym typeface="Calibri"/>
              </a:rPr>
              <a:t>Efficient Turnaround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1024128" y="517550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End-to-end profiling, validation, and delivery executed within the client's timeline with zero compromise on title accuracy.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CXO Account Profiling Project — Enterprise IT Leadership, Mumbai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A35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C9B0"/>
                </a:solidFill>
                <a:latin typeface="Calibri"/>
                <a:ea typeface="Calibri"/>
                <a:cs typeface="Calibri"/>
                <a:sym typeface="Calibri"/>
              </a:rPr>
              <a:t>PROJECT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AI Tech Conclave — Mumbai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640080" y="12344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CXO Account Profiling — Enterprise IT Leadership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40080" y="2286000"/>
            <a:ext cx="2606040" cy="1554480"/>
          </a:xfrm>
          <a:prstGeom prst="rect">
            <a:avLst/>
          </a:prstGeom>
          <a:solidFill>
            <a:srgbClr val="23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822960" y="25146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320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822960" y="3200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Enterprise Accounts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3429000" y="2286000"/>
            <a:ext cx="2606040" cy="1554480"/>
          </a:xfrm>
          <a:prstGeom prst="rect">
            <a:avLst/>
          </a:prstGeom>
          <a:solidFill>
            <a:srgbClr val="23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3611880" y="25146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480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3611880" y="3200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Verified CXO Contacts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217920" y="2286000"/>
            <a:ext cx="2606040" cy="1554480"/>
          </a:xfrm>
          <a:prstGeom prst="rect">
            <a:avLst/>
          </a:prstGeom>
          <a:solidFill>
            <a:srgbClr val="23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6400800" y="25146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CXO Only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6400800" y="3200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Seniority Level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9006840" y="2286000"/>
            <a:ext cx="2606040" cy="1554480"/>
          </a:xfrm>
          <a:prstGeom prst="rect">
            <a:avLst/>
          </a:prstGeom>
          <a:solidFill>
            <a:srgbClr val="232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9189720" y="25146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9B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7C9B0"/>
                </a:solidFill>
                <a:latin typeface="Cambria"/>
                <a:ea typeface="Cambria"/>
                <a:cs typeface="Cambria"/>
                <a:sym typeface="Cambria"/>
              </a:rPr>
              <a:t>IT Only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9189720" y="3200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Function Scope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640080" y="429768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320 enterprise accounts, 480 verified CXOs — a tightly scoped,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9E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7E9EF"/>
                </a:solidFill>
                <a:latin typeface="Calibri"/>
                <a:ea typeface="Calibri"/>
                <a:cs typeface="Calibri"/>
                <a:sym typeface="Calibri"/>
              </a:rPr>
              <a:t>role-pure dataset ready to power the AI technology event campaign in Mumbai.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11"/>
          <p:cNvCxnSpPr/>
          <p:nvPr/>
        </p:nvCxnSpPr>
        <p:spPr>
          <a:xfrm>
            <a:off x="640080" y="594360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3841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11"/>
          <p:cNvSpPr txBox="1"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Prepared by  [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Niraj Pawar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]  | Database &amp; 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Research 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Executive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2026-09-22T05:05:46Z</dcterms:created>
  <dc:creator>PptxGenJS</dc:creator>
</cp:coreProperties>
</file>